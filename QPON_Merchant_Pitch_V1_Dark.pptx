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qpon.lk" TargetMode="External"/><Relationship Id="rId3" Type="http://schemas.openxmlformats.org/officeDocument/2006/relationships/hyperlink" Target="mailto:inquiries@qpon.l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More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4511E"/>
                </a:solidFill>
                <a:latin typeface="Segoe UI"/>
              </a:rPr>
              <a:t>Zero Commission.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B1"/>
                </a:solidFill>
                <a:latin typeface="Segoe UI"/>
              </a:rPr>
              <a:t>Total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42032"/>
            <a:ext cx="109728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F"/>
                </a:solidFill>
                <a:latin typeface="Segoe UI"/>
              </a:rPr>
              <a:t>QPON is a commission-free coupon &amp; deals platform built for local Sri Lankan businesses.
You set the deals, you own the relationship — we put you in front of ready-to-spend customers.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3474720" cy="868680"/>
          </a:xfrm>
          <a:prstGeom prst="rect">
            <a:avLst/>
          </a:prstGeom>
          <a:solidFill>
            <a:srgbClr val="1A2B55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511E"/>
                </a:solidFill>
                <a:latin typeface="Segoe UI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Commission —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749039"/>
            <a:ext cx="3474720" cy="868680"/>
          </a:xfrm>
          <a:prstGeom prst="rect">
            <a:avLst/>
          </a:prstGeom>
          <a:solidFill>
            <a:srgbClr val="1A2B55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  <a:latin typeface="Segoe UI"/>
              </a:rPr>
              <a:t>3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Free to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3749039"/>
            <a:ext cx="3474720" cy="868680"/>
          </a:xfrm>
          <a:prstGeom prst="rect">
            <a:avLst/>
          </a:prstGeom>
          <a:solidFill>
            <a:srgbClr val="1A2B55"/>
          </a:solidFill>
          <a:ln w="1905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B830"/>
                </a:solidFill>
                <a:latin typeface="Segoe UI"/>
              </a:rPr>
              <a:t>50 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Founding Partners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731520"/>
            <a:ext cx="3200400" cy="5394960"/>
          </a:xfrm>
          <a:prstGeom prst="roundRect">
            <a:avLst>
              <a:gd name="adj" fmla="val 30000"/>
            </a:avLst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914400"/>
            <a:ext cx="2926080" cy="64008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960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📊 Live Dashboard — 14 redemptions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691640"/>
            <a:ext cx="2926080" cy="1097280"/>
          </a:xfrm>
          <a:prstGeom prst="rect">
            <a:avLst/>
          </a:prstGeom>
          <a:solidFill>
            <a:srgbClr val="152247"/>
          </a:solidFill>
          <a:ln w="635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783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Lunch Special — 25% OFF · 38 redeemed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194560"/>
            <a:ext cx="2743200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2194560"/>
            <a:ext cx="137160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2350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Segoe UI"/>
              </a:rPr>
              <a:t>▮▮▮▮▮▮▮▮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2926080"/>
            <a:ext cx="2926080" cy="1097280"/>
          </a:xfrm>
          <a:prstGeom prst="rect">
            <a:avLst/>
          </a:prstGeom>
          <a:solidFill>
            <a:srgbClr val="152247"/>
          </a:solidFill>
          <a:ln w="635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999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017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Happy Hour — 30% OFF · 22 redeemed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3429000"/>
            <a:ext cx="2743200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5400" y="3429000"/>
            <a:ext cx="17373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584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6B35"/>
                </a:solidFill>
                <a:latin typeface="Segoe UI"/>
              </a:rPr>
              <a:t>▮▮▮▮▮▮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4160520"/>
            <a:ext cx="2926080" cy="1097280"/>
          </a:xfrm>
          <a:prstGeom prst="rect">
            <a:avLst/>
          </a:prstGeom>
          <a:solidFill>
            <a:srgbClr val="152247"/>
          </a:solidFill>
          <a:ln w="635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233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Morning Coffee — 20% OFF · 17 redeemed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4663440"/>
            <a:ext cx="2743200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4663440"/>
            <a:ext cx="2103120" cy="7315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818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B830"/>
                </a:solidFill>
                <a:latin typeface="Segoe UI"/>
              </a:rPr>
              <a:t>▮▮▮▮▮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5394960"/>
            <a:ext cx="292608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7968" y="54589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↑ 43% more visits vs last week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THE REALITY FOR LOCAL BUSINESSES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You're Working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511E"/>
                </a:solidFill>
                <a:latin typeface="Segoe UI"/>
              </a:rPr>
              <a:t>The Middlemen Are Getting Paid.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657600" cy="3108960"/>
          </a:xfrm>
          <a:prstGeom prst="rect">
            <a:avLst/>
          </a:prstGeom>
          <a:solidFill>
            <a:srgbClr val="1A2B55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Commissions Eat Your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OTAs and delivery apps charge 20–30% on every transaction. For a café doing
LKR 500K/month, that's LKR 100–150K gone before you pay staff.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329184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Up to 30% lost per sale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11680"/>
            <a:ext cx="3657600" cy="3108960"/>
          </a:xfrm>
          <a:prstGeom prst="rect">
            <a:avLst/>
          </a:prstGeom>
          <a:solidFill>
            <a:srgbClr val="1A2B5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 Direct Customer Relationship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Third-party platforms own the customer data. You fulfil the order — they keep
the contact, the reviews, and the repeat business opportunity.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480560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Zero ownership of your audience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011680"/>
            <a:ext cx="3657600" cy="3108960"/>
          </a:xfrm>
          <a:prstGeom prst="rect">
            <a:avLst/>
          </a:prstGeom>
          <a:solidFill>
            <a:srgbClr val="1A2B55"/>
          </a:solidFill>
          <a:ln w="19050">
            <a:solidFill>
              <a:srgbClr val="FF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Empty Tables in Off-Peak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Weekday lunches, mid-afternoon, low-season months — capacity sits idle.
No smart tool to attract customers precisely when you need them.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4480560"/>
            <a:ext cx="3291840" cy="36576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5A"/>
                </a:solidFill>
                <a:latin typeface="Segoe UI"/>
              </a:rPr>
              <a:t>~70% of off-peak capacity wasted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3657600" cy="1097280"/>
          </a:xfrm>
          <a:prstGeom prst="rect">
            <a:avLst/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🚫  No visibility without paid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F"/>
                </a:solidFill>
                <a:latin typeface="Segoe UI"/>
              </a:rPr>
              <a:t>Meta/Google ads cost LKR 50–200K/mo with unpredictable ROI for most SMEs.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5074920"/>
            <a:ext cx="3657600" cy="1097280"/>
          </a:xfrm>
          <a:prstGeom prst="rect">
            <a:avLst/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1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📊  No real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F"/>
                </a:solidFill>
                <a:latin typeface="Segoe UI"/>
              </a:rPr>
              <a:t>Merchants have no clear view of which promotions work, when, and for whom.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074920"/>
            <a:ext cx="3657600" cy="1097280"/>
          </a:xfrm>
          <a:prstGeom prst="rect">
            <a:avLst/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🔄  No repeat visit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F"/>
                </a:solidFill>
                <a:latin typeface="Segoe UI"/>
              </a:rPr>
              <a:t>One-time walk-ins are never converted into loyal regulars — the highest-value segment.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THE QPON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Your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9B1"/>
                </a:solidFill>
                <a:latin typeface="Segoe UI"/>
              </a:rPr>
              <a:t>Your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9144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F"/>
                </a:solidFill>
                <a:latin typeface="Segoe UI"/>
              </a:rPr>
              <a:t>QPON is a commission-free coupon platform built for local Sri Lankan businesses.
Run promotions on your terms — we put you in front of the customers you want.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864" cy="54864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26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 commission. 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Pay only when a coupon is redeemed. You keep what you earn.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0752"/>
            <a:ext cx="54864" cy="5486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30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Full campaign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23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Set your own discount %, caps, duration. Pause or edit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35424"/>
            <a:ext cx="54864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35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Real customer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28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See exactly who redeems, when, and how often — your insights.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0096"/>
            <a:ext cx="54864" cy="5486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40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Corporate channel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327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Get discovered by employees through company benefit programs.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7498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B4CF"/>
                </a:solidFill>
                <a:latin typeface="Segoe UI"/>
              </a:rPr>
              <a:t>GETTING STARTED — 4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143000"/>
            <a:ext cx="530352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84848" y="146304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2527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Create your merchant 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6184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Sign up at qpon.lk. Our team onboards you — no tech skills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468880"/>
            <a:ext cx="530352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84848" y="278892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5786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Build your first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9443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Set discount %, redemption cap, dates. Publish in minutes.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794760"/>
            <a:ext cx="530352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84848" y="411480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41148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90448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Customers discover &amp; visit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2702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Geo-targeted deal surfaces to the right customer near you.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5120640"/>
            <a:ext cx="5303520" cy="1170432"/>
          </a:xfrm>
          <a:prstGeom prst="rect">
            <a:avLst/>
          </a:prstGeom>
          <a:solidFill>
            <a:srgbClr val="00A896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84848" y="5440679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44067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23036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Track real-time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596127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See live data. Pause or edit campaigns anytime.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419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B1"/>
                </a:solidFill>
                <a:latin typeface="Segoe UI"/>
              </a:rPr>
              <a:t>⏱  Average setup time: under 15 minutes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FEATURE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Smarter Discounts.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511E"/>
                </a:solidFill>
                <a:latin typeface="Segoe UI"/>
              </a:rPr>
              <a:t>Bigger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896112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39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Target by time slot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95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Run a 20% lunch special only 12–2 pm on weekdays. Fill tables that would sit empty.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5486400" cy="896112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Set redemption caps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3192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Limit to 30 coupons/day so you never over-commit capacity or erode margin.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5486400" cy="896112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⏸️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995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Pause or edit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43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Fully booked? Special event? Pause the deal in one tap — no admin, no delays.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46904"/>
            <a:ext cx="5486400" cy="896112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020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Seasonal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3675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Pre-schedule promotions for low season, holidays, or local events.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749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B4CF"/>
                </a:solidFill>
                <a:latin typeface="Segoe UI"/>
              </a:rPr>
              <a:t>EXAMPLE: A MIRISSA RESTAURANT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078992"/>
            <a:ext cx="5303520" cy="2304288"/>
          </a:xfrm>
          <a:prstGeom prst="rect">
            <a:avLst/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11704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BEFORE QPON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Monthly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508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LKR 500,000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1874519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2011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OTA commission (25%)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4511E"/>
                </a:solidFill>
                <a:latin typeface="Segoe UI"/>
              </a:rPr>
              <a:t>− LKR 125,000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2377440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2514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Ad spend (Meta/Google)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4511E"/>
                </a:solidFill>
                <a:latin typeface="Segoe UI"/>
              </a:rPr>
              <a:t>− LKR 60,000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2880360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48272" y="3044952"/>
            <a:ext cx="4937760" cy="228600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30540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Net retained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0540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4511E"/>
                </a:solidFill>
                <a:latin typeface="Segoe UI"/>
              </a:rPr>
              <a:t>LKR 315,000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493008"/>
            <a:ext cx="5303520" cy="2514600"/>
          </a:xfrm>
          <a:prstGeom prst="rect">
            <a:avLst/>
          </a:prstGeom>
          <a:solidFill>
            <a:srgbClr val="1A2B55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584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WITH QPON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005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Monthly revenue (+15% footfall)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0050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LKR 575,000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4370832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507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QPON pay-per-redemption fee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507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B1"/>
                </a:solidFill>
                <a:latin typeface="Segoe UI"/>
              </a:rPr>
              <a:t>− LKR 18,000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48272" y="4873752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Ad spend (reduced)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0109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B1"/>
                </a:solidFill>
                <a:latin typeface="Segoe UI"/>
              </a:rPr>
              <a:t>− LKR 20,000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8272" y="5376672"/>
            <a:ext cx="4937760" cy="9144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48272" y="5559552"/>
            <a:ext cx="493776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5577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Net retained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577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Segoe UI"/>
              </a:rPr>
              <a:t>LKR 537,000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5989320"/>
            <a:ext cx="5303520" cy="3200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48272" y="6035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📈  +LKR 222,000 more retained per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PLATFORM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Everything You Need.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511E"/>
                </a:solidFill>
                <a:latin typeface="Segoe UI"/>
              </a:rPr>
              <a:t>Nothing You Don't.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657600" cy="1874519"/>
          </a:xfrm>
          <a:prstGeom prst="rect">
            <a:avLst/>
          </a:prstGeom>
          <a:solidFill>
            <a:srgbClr val="00302A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Real-Time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Live view of issued, collected, and redeemed coupons. See peak hours, best-performing deals, and return rates.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657600" cy="1874519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Web + App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Manage from laptop or phone. Full feature parity across all devices — no separate app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57400"/>
            <a:ext cx="3657600" cy="1874519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Full Campaign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Create, pause, edit, or delete campaigns anytime. Set spending caps, time windows, per-user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78808"/>
            <a:ext cx="3657600" cy="1874519"/>
          </a:xfrm>
          <a:prstGeom prst="rect">
            <a:avLst/>
          </a:prstGeom>
          <a:solidFill>
            <a:srgbClr val="381808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Geo-Targeted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Your deals appear to customers physically near your location — the highest-intent audience possible.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78808"/>
            <a:ext cx="3657600" cy="1874519"/>
          </a:xfrm>
          <a:prstGeom prst="rect">
            <a:avLst/>
          </a:prstGeom>
          <a:solidFill>
            <a:srgbClr val="28083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Corporate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Your business is visible inside corporate employee benefit packages — driving guaranteed regular visitors.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78808"/>
            <a:ext cx="3657600" cy="1874519"/>
          </a:xfrm>
          <a:prstGeom prst="rect">
            <a:avLst/>
          </a:prstGeom>
          <a:solidFill>
            <a:srgbClr val="1A2B55"/>
          </a:solidFill>
          <a:ln w="1524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Dedicated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Personal setup walkthrough, demo videos, FAQ portal. First 50 merchants get a physical Welcome Kit.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BONUS REVENUE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 New Customer Channel: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855F7"/>
                </a:solidFill>
                <a:latin typeface="Segoe UI"/>
              </a:rPr>
              <a:t>Corporate Employees.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F"/>
                </a:solidFill>
                <a:latin typeface="Segoe UI"/>
              </a:rPr>
              <a:t>QPON sells branded coupon books to companies as employee perks. Your business gets listed —
giving you a stream of repeat visitors from nearby offices every single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669280" cy="749808"/>
          </a:xfrm>
          <a:prstGeom prst="rect">
            <a:avLst/>
          </a:prstGeom>
          <a:solidFill>
            <a:srgbClr val="1A2B5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Company Signs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729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HR purchases annual QPON employee benefit package for all staff.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669280" cy="749808"/>
          </a:xfrm>
          <a:prstGeom prst="rect">
            <a:avLst/>
          </a:prstGeom>
          <a:solidFill>
            <a:srgbClr val="1A2B5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307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Employees Get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0416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Staff open QPON and see deals near their office — your business is front and centre.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26279"/>
            <a:ext cx="5669280" cy="749808"/>
          </a:xfrm>
          <a:prstGeom prst="rect">
            <a:avLst/>
          </a:prstGeom>
          <a:solidFill>
            <a:srgbClr val="1A2B5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908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59943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They Visit You Regularly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91032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Unlike one-off tourists, employees are nearby every weekday. One company = dozens of weekly regulars.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21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59"/>
            <a:ext cx="5669280" cy="749808"/>
          </a:xfrm>
          <a:prstGeom prst="rect">
            <a:avLst/>
          </a:prstGeom>
          <a:solidFill>
            <a:srgbClr val="1A2B5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5955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4681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You Earn Predictably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7790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Regular weekday visits. Zero effort — QPON handles the entire corporate relationship.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783080"/>
            <a:ext cx="5212080" cy="4434840"/>
          </a:xfrm>
          <a:prstGeom prst="rect">
            <a:avLst/>
          </a:prstGeom>
          <a:solidFill>
            <a:srgbClr val="1A2B55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WHY THIS MATTERS FOR YOUR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Corporate employees are the most predictable customer segment — same area, same routines, high weekly spend.
QPON's corporate channel turns your existing location into a reliable revenue stream beyond peak hours.
One partner company can bring you 20–100 regular weekly visitors — permanently.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279392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42245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Bulk coupon books — branded to employer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718303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6634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Group subscription tiers — 10 to 10,000 employees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157216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51023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HR usage dashboard — visibility on engagement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96128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55412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Category control — curate for company culture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30"/>
                </a:solidFill>
                <a:latin typeface="Segoe UI"/>
              </a:rPr>
              <a:t>TRANSPARENT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Simple, Fair,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511E"/>
                </a:solidFill>
                <a:latin typeface="Segoe UI"/>
              </a:rPr>
              <a:t>Performance-Based.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F"/>
                </a:solidFill>
                <a:latin typeface="Segoe UI"/>
              </a:rPr>
              <a:t>You only pay QPON when it actually works for you. No monthly retainer, no upfront risk, no hidden fees.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143" y="2478024"/>
            <a:ext cx="3547872" cy="37307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9" y="2514600"/>
            <a:ext cx="3474720" cy="3657600"/>
          </a:xfrm>
          <a:prstGeom prst="rect">
            <a:avLst/>
          </a:prstGeom>
          <a:solidFill>
            <a:srgbClr val="002E28"/>
          </a:solidFill>
          <a:ln w="2286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4159" y="2313432"/>
            <a:ext cx="100584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4159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Founding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96"/>
                </a:solidFill>
                <a:latin typeface="Segoe UI"/>
              </a:rPr>
              <a:t>First 50 merchants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887" y="3447288"/>
            <a:ext cx="3072384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887" y="3675887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479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Full platform access — no fees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887" y="408736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479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3 Months at zero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887" y="449884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479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Priority placement in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887" y="491032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479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Welcome Kit (QR standee, cards)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887" y="532180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479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Dedicated onboarding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887" y="573328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479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500 LKR cashback per redemption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8487" y="2514600"/>
            <a:ext cx="3474720" cy="3657600"/>
          </a:xfrm>
          <a:prstGeom prst="rect">
            <a:avLst/>
          </a:prstGeom>
          <a:solidFill>
            <a:srgbClr val="382000"/>
          </a:solidFill>
          <a:ln w="2286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92927" y="2313432"/>
            <a:ext cx="1005840" cy="384048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2927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9655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Monthly Subscription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9655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30"/>
                </a:solidFill>
                <a:latin typeface="Segoe UI"/>
              </a:rPr>
              <a:t>High-volume merchants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59655" y="3447288"/>
            <a:ext cx="3072384" cy="2743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59655" y="3675887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247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Flat monthly fee — no per-use charge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9655" y="408736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4247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Advanced analytics &amp; ROI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9655" y="449884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4247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Featured placement in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655" y="491032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4247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Multi-branch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9655" y="532180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4247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Dedicated account manager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59655" y="573328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24247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Priority customer support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17255" y="2514600"/>
            <a:ext cx="3474720" cy="3657600"/>
          </a:xfrm>
          <a:prstGeom prst="rect">
            <a:avLst/>
          </a:prstGeom>
          <a:solidFill>
            <a:srgbClr val="22083A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51695" y="2313432"/>
            <a:ext cx="100584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1695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CORP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8423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Corporate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8423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2FBE"/>
                </a:solidFill>
                <a:latin typeface="Segoe UI"/>
              </a:rPr>
              <a:t>Annual B2B packages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8423" y="3447288"/>
            <a:ext cx="3072384" cy="274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8423" y="3675887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83015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Listed in corporate benefit books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8423" y="408736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83015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Featured to employee audiences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8423" y="449884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3015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B2B footfall &amp; ROI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8423" y="491032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83015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Company partnership branding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8423" y="532180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83015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Priority in corporate searches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8423" y="573328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83015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Tailored onboarding for HR teams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3185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🔒  Our permanent promise: QPON will never charge a percentage commission on your sales. 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YOUR NEW CUSTOMER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Four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Segoe UI"/>
              </a:rPr>
              <a:t>All Ready to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029968"/>
            <a:ext cx="2816352" cy="4206240"/>
          </a:xfrm>
          <a:prstGeom prst="rect">
            <a:avLst/>
          </a:prstGeom>
          <a:solidFill>
            <a:srgbClr val="1A2B55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Corporate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55F7"/>
                </a:solidFill>
                <a:latin typeface="Segoe UI"/>
              </a:rPr>
              <a:t>Weekly Regulars · Predictable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38144"/>
            <a:ext cx="242316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Office workers with QPON via their employer's benefits plan. Same area every weekday — your most reliable, repeat customer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074920"/>
            <a:ext cx="2423160" cy="320040"/>
          </a:xfrm>
          <a:prstGeom prst="rect">
            <a:avLst/>
          </a:prstGeom>
          <a:solidFill>
            <a:srgbClr val="1A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Segoe UI"/>
              </a:rPr>
              <a:t>Consistent weekly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2029968"/>
            <a:ext cx="2816352" cy="4206240"/>
          </a:xfrm>
          <a:prstGeom prst="rect">
            <a:avLst/>
          </a:prstGeom>
          <a:solidFill>
            <a:srgbClr val="1A2B55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Digital Nomads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Segoe UI"/>
              </a:rPr>
              <a:t>Daily Repeat · Long Stay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36" y="3438144"/>
            <a:ext cx="242316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Remote professionals staying for months. They eat out daily, use cafés for work, and build routines fast. One nomad = multiple weekly visits for months.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2736" y="5074920"/>
            <a:ext cx="2423160" cy="320040"/>
          </a:xfrm>
          <a:prstGeom prst="rect">
            <a:avLst/>
          </a:prstGeom>
          <a:solidFill>
            <a:srgbClr val="0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B1"/>
                </a:solidFill>
                <a:latin typeface="Segoe UI"/>
              </a:rPr>
              <a:t>7+ visits/week potential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029968"/>
            <a:ext cx="2816352" cy="4206240"/>
          </a:xfrm>
          <a:prstGeom prst="rect">
            <a:avLst/>
          </a:prstGeom>
          <a:solidFill>
            <a:srgbClr val="1A2B55"/>
          </a:solidFill>
          <a:ln w="1905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Urban Taste-Makers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30"/>
                </a:solidFill>
                <a:latin typeface="Segoe UI"/>
              </a:rPr>
              <a:t>Trend Setters · Social Amplifiers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3438144"/>
            <a:ext cx="2423160" cy="36576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Savvy locals who discover new spots first and broadcast them to thousands of followers. One QPON visit = organic marketing you can't buy.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47104" y="5074920"/>
            <a:ext cx="2423160" cy="32004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830"/>
                </a:solidFill>
                <a:latin typeface="Segoe UI"/>
              </a:rPr>
              <a:t>Free social amplification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8592" y="2029968"/>
            <a:ext cx="2816352" cy="4206240"/>
          </a:xfrm>
          <a:prstGeom prst="rect">
            <a:avLst/>
          </a:prstGeom>
          <a:solidFill>
            <a:srgbClr val="1A2B55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Explorers &amp; Tourists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6B35"/>
                </a:solidFill>
                <a:latin typeface="Segoe UI"/>
              </a:rPr>
              <a:t>High Spend · Short Stay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91472" y="3438144"/>
            <a:ext cx="242316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Destination travellers seeking authentic local recommendations. High spend per visit — and QPON is their first stop when they arrive.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91472" y="5074920"/>
            <a:ext cx="2423160" cy="320040"/>
          </a:xfrm>
          <a:prstGeom prst="rect">
            <a:avLst/>
          </a:prstGeom>
          <a:solidFill>
            <a:srgbClr val="28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  <a:latin typeface="Segoe UI"/>
              </a:rPr>
              <a:t>Avg. LKR 45K / week spend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5532120"/>
            <a:ext cx="11210544" cy="685800"/>
          </a:xfrm>
          <a:prstGeom prst="rect">
            <a:avLst/>
          </a:prstGeom>
          <a:solidFill>
            <a:srgbClr val="1A2B55"/>
          </a:solidFill>
          <a:ln w="12700">
            <a:solidFill>
              <a:srgbClr val="2A3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596128"/>
            <a:ext cx="10844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B4CF"/>
                </a:solidFill>
                <a:latin typeface="Segoe UI"/>
              </a:rPr>
              <a:t>📍 All four segments are shown your deals only when physically near you — zero wasted impressions.
🔄 QPON's repeat-visit engine actively drives each segment back to your business.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COMPETITIVE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How QPON Compares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511E"/>
                </a:solidFill>
                <a:latin typeface="Segoe UI"/>
              </a:rPr>
              <a:t>What You're Using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11521440" cy="411480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B4CF"/>
                </a:solidFill>
                <a:latin typeface="Segoe U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867912" y="1901952"/>
            <a:ext cx="201168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QPON 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B4CF"/>
                </a:solidFill>
                <a:latin typeface="Segoe UI"/>
              </a:rPr>
              <a:t>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B4CF"/>
                </a:solidFill>
                <a:latin typeface="Segoe UI"/>
              </a:rPr>
              <a:t>Delivery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3848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B4CF"/>
                </a:solidFill>
                <a:latin typeface="Segoe UI"/>
              </a:rPr>
              <a:t>Social 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95728"/>
            <a:ext cx="11521440" cy="493775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505456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Commission on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0% Always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Segoe UI"/>
              </a:rPr>
              <a:t>20–30%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Segoe UI"/>
              </a:rPr>
              <a:t>25–30%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Sunk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26080"/>
            <a:ext cx="11521440" cy="493775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035808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Real-time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Basic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56432"/>
            <a:ext cx="11521440" cy="493775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566160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Full deal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Limited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Minimal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86783"/>
            <a:ext cx="11521440" cy="493775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4096511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Geo-targeted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Approx.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517136"/>
            <a:ext cx="11521440" cy="493775"/>
          </a:xfrm>
          <a:prstGeom prst="rect">
            <a:avLst/>
          </a:prstGeom>
          <a:solidFill>
            <a:srgbClr val="15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626864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Corporate B2B channel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8128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047488"/>
            <a:ext cx="11521440" cy="493775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5157216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Repeat visit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8464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68128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LAUNCH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June 2026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855F7"/>
                </a:solidFill>
                <a:latin typeface="Segoe UI"/>
              </a:rPr>
              <a:t>Corporate-First. Ecosystem-Wide.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5486400" cy="4343400"/>
          </a:xfrm>
          <a:prstGeom prst="rect">
            <a:avLst/>
          </a:prstGeom>
          <a:solidFill>
            <a:srgbClr val="20063A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01952"/>
            <a:ext cx="548640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★  PRIMARY TARGET  —  CORPORATE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505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8716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  <a:latin typeface="Segoe UI"/>
              </a:rPr>
              <a:t>Corporate Employees &amp; HR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9232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F"/>
                </a:solidFill>
                <a:latin typeface="Segoe UI"/>
              </a:rPr>
              <a:t>QPON launches June 2026 with Corporate as the anchor market. By partnering with companies before the public launch, we secure a committed, predictable base of repeat visitors for every onboarded merchant from day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24528"/>
            <a:ext cx="5166360" cy="402336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885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88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50+ companies signed pre-launch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00016"/>
            <a:ext cx="5166360" cy="402336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5,000+ active users at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75504"/>
            <a:ext cx="5166360" cy="402336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39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Visit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Weekly recurring footfall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01952"/>
            <a:ext cx="5486400" cy="384048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9385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B4CF"/>
                </a:solidFill>
                <a:latin typeface="Segoe UI"/>
              </a:rPr>
              <a:t>SECONDARY SEGMENTS  —  GROWTH PHASE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23160"/>
            <a:ext cx="548640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974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514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Digital Nomads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898648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Long-stay remote workers build daily routines. High-frequency return visits.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423160"/>
            <a:ext cx="164592" cy="1170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21608"/>
            <a:ext cx="548640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959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3813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Urban Taste-Makers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19709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Local trend-setters drive word-of-mouth and social discovery after launch.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21608"/>
            <a:ext cx="164592" cy="117043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020056"/>
            <a:ext cx="5486400" cy="1170432"/>
          </a:xfrm>
          <a:prstGeom prst="rect">
            <a:avLst/>
          </a:prstGeom>
          <a:solidFill>
            <a:srgbClr val="1A2B55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2943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51114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Explorers &amp; Tourists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549554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Seasonal high-spenders activate deal discovery for the broader consumer funnel.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20056"/>
            <a:ext cx="164592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486400"/>
            <a:ext cx="11384280" cy="713232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532120"/>
            <a:ext cx="109728" cy="5669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Jan–May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4CF"/>
                </a:solidFill>
                <a:latin typeface="Segoe UI"/>
              </a:rPr>
              <a:t>Corporate pre-sales &amp; merchant onboarding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5532120"/>
            <a:ext cx="109728" cy="5669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75888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75888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4CF"/>
                </a:solidFill>
                <a:latin typeface="Segoe UI"/>
              </a:rPr>
              <a:t>Public launch — corporate users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45936" y="5532120"/>
            <a:ext cx="109728" cy="566928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30"/>
                </a:solidFill>
                <a:latin typeface="Segoe UI"/>
              </a:rPr>
              <a:t>Q3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4CF"/>
                </a:solidFill>
                <a:latin typeface="Segoe UI"/>
              </a:rPr>
              <a:t>Digital nomad &amp; local foodie expansion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3" y="5532120"/>
            <a:ext cx="1097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1743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Q4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1743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4CF"/>
                </a:solidFill>
                <a:latin typeface="Segoe UI"/>
              </a:rPr>
              <a:t>Tourist corridor rollout nationwide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WE'VE GOT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You're Never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Segoe UI"/>
              </a:rPr>
              <a:t>Your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F"/>
                </a:solidFill>
                <a:latin typeface="Segoe UI"/>
              </a:rPr>
              <a:t>QPON provides every tool and human support you need to get set up fast and keep growing.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6400800" cy="841248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🧑‍💼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78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Personal Sales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443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A team member guides you through setup — in person or video call. No questions too small.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47288"/>
            <a:ext cx="6400800" cy="841248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387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Demo Videos &amp; FAQ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0448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Step-by-step guides and a searchable help centre available 24/7.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07408"/>
            <a:ext cx="6400800" cy="841248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988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Priority Support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6460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Direct WhatsApp and email support. Founding merchants get priority — response within hours.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67528"/>
            <a:ext cx="6400800" cy="841248"/>
          </a:xfrm>
          <a:prstGeom prst="rect">
            <a:avLst/>
          </a:prstGeom>
          <a:solidFill>
            <a:srgbClr val="1A2B5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50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589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AI Onboarding (2026 Roadmap)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2472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F"/>
                </a:solidFill>
                <a:latin typeface="Segoe UI"/>
              </a:rPr>
              <a:t>Intelligent chatbot that guides setup and suggests deal optimisations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86000"/>
            <a:ext cx="4343400" cy="3931920"/>
          </a:xfrm>
          <a:prstGeom prst="rect">
            <a:avLst/>
          </a:prstGeom>
          <a:solidFill>
            <a:srgbClr val="002522"/>
          </a:solidFill>
          <a:ln w="2540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4231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29000"/>
            <a:ext cx="4069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Founding Merchant
Welcome 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06908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B1"/>
                </a:solidFill>
                <a:latin typeface="Segoe UI"/>
              </a:rPr>
              <a:t>First 50 merchants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434840"/>
            <a:ext cx="4069080" cy="329184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4714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📱  Custom QR standee for your counter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4818888"/>
            <a:ext cx="4069080" cy="329184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85546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🪧  Branded table cards &amp; stickers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5202936"/>
            <a:ext cx="4069080" cy="329184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5239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🏅  'QPON Partner' window badge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5586983"/>
            <a:ext cx="4069080" cy="329184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62355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📘  Printed quick-start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F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3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4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0D0"/>
                </a:solidFill>
                <a:latin typeface="Segoe UI"/>
              </a:rPr>
              <a:t>EXCLUSIVE LAUNCH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Join as a Founding Merchant.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E8D0"/>
                </a:solidFill>
                <a:latin typeface="Segoe UI"/>
              </a:rPr>
              <a:t>Win Before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EC8"/>
                </a:solidFill>
                <a:latin typeface="Segoe UI"/>
              </a:rPr>
              <a:t>Limited to 50 businesses. Once these spots are filled, the founding tier closes permanently
and pricing reverts to standard 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72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532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3 Months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Full platform access with zero fees.
No credit card required to start.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848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008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Priority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Your business appears at the top
when customers search near 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324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484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Welcome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612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QR standee, table cards, and stickers
— everything to signal you're on QPON.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72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88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🤝  Dedicated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88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Personal setup walkthrough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848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64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🔒  0% Commission — Forever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Locked in for founding partners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324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040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📍  Priority geo 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40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Top of search in your area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0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AA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PARTNER WITH QPON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Your Business Deserves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4511E"/>
                </a:solidFill>
                <a:latin typeface="Segoe UI"/>
              </a:rPr>
              <a:t>Better Than 30% Commission.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F"/>
                </a:solidFill>
                <a:latin typeface="Segoe UI"/>
              </a:rPr>
              <a:t>Join QPON now. Keep your margin, own your customers, and fill your tables —
on your terms, with zero commission, starting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479" y="2834640"/>
            <a:ext cx="3291840" cy="1417320"/>
          </a:xfrm>
          <a:prstGeom prst="rect">
            <a:avLst/>
          </a:prstGeom>
          <a:solidFill>
            <a:srgbClr val="F4511E"/>
          </a:solidFill>
          <a:ln w="2286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7079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639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Sign Up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639" y="385876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  <a:hlinkClick r:id="rId2"/>
              </a:rPr>
              <a:t>www.qpon.lk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9927" y="2834640"/>
            <a:ext cx="3291840" cy="1417320"/>
          </a:xfrm>
          <a:prstGeom prst="rect">
            <a:avLst/>
          </a:prstGeom>
          <a:solidFill>
            <a:srgbClr val="1A2B55"/>
          </a:solidFill>
          <a:ln w="2286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1527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Call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087" y="38587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egoe UI"/>
              </a:rPr>
              <a:t>+94 75 977 8858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375" y="2834640"/>
            <a:ext cx="3291840" cy="1417320"/>
          </a:xfrm>
          <a:prstGeom prst="rect">
            <a:avLst/>
          </a:prstGeom>
          <a:solidFill>
            <a:srgbClr val="1A2B55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5975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✉️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1535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Email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1535" y="385876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7B2FBE"/>
                </a:solidFill>
                <a:latin typeface="Segoe UI"/>
                <a:hlinkClick r:id="rId3"/>
              </a:rPr>
              <a:t>inquiries@qpon.lk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511E"/>
                </a:solidFill>
                <a:latin typeface="Segoe U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Commission forever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B4CF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9B1"/>
                </a:solidFill>
                <a:latin typeface="Segoe UI"/>
              </a:rPr>
              <a:t>3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Free to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B4CF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B830"/>
                </a:solidFill>
                <a:latin typeface="Segoe UI"/>
              </a:rPr>
              <a:t>50 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4CF"/>
                </a:solidFill>
                <a:latin typeface="Segoe UI"/>
              </a:rPr>
              <a:t>Founding tier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053328"/>
            <a:ext cx="12191695" cy="36576"/>
          </a:xfrm>
          <a:prstGeom prst="rect">
            <a:avLst/>
          </a:prstGeom>
          <a:solidFill>
            <a:srgbClr val="1A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089904"/>
            <a:ext cx="12191695" cy="768096"/>
          </a:xfrm>
          <a:prstGeom prst="rect">
            <a:avLst/>
          </a:prstGeom>
          <a:solidFill>
            <a:srgbClr val="08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F"/>
                </a:solidFill>
                <a:latin typeface="Segoe UI"/>
              </a:rPr>
              <a:t>© 2026 QPON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6172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C9B1"/>
                </a:solidFill>
                <a:latin typeface="Segoe UI"/>
                <a:hlinkClick r:id="rId2"/>
              </a:rPr>
              <a:t>qpon.lk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172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F"/>
                </a:solidFill>
                <a:latin typeface="Segoe UI"/>
              </a:rPr>
              <a:t>Issac Heshan Suppiah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