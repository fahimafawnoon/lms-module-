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qpon.lk" TargetMode="External"/><Relationship Id="rId3" Type="http://schemas.openxmlformats.org/officeDocument/2006/relationships/hyperlink" Target="mailto:inquiries@qpon.lk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01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D1B3E"/>
                </a:solidFill>
                <a:latin typeface="Segoe UI"/>
              </a:rPr>
              <a:t>More Customers.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4511E"/>
                </a:solidFill>
                <a:latin typeface="Segoe UI"/>
              </a:rPr>
              <a:t>Zero Commission.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C9B1"/>
                </a:solidFill>
                <a:latin typeface="Segoe UI"/>
              </a:rPr>
              <a:t>Total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42032"/>
            <a:ext cx="1097280" cy="36576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6B"/>
                </a:solidFill>
                <a:latin typeface="Segoe UI"/>
              </a:rPr>
              <a:t>QPON is a commission-free coupon &amp; deals platform built for local Sri Lankan businesses.
You set the deals, you own the relationship — we put you in front of ready-to-spend customers.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49039"/>
            <a:ext cx="34747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822191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511E"/>
                </a:solidFill>
                <a:latin typeface="Segoe UI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2611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Commission — Ever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3749039"/>
            <a:ext cx="34747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1" y="3822191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B1"/>
                </a:solidFill>
                <a:latin typeface="Segoe UI"/>
              </a:rPr>
              <a:t>3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42611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Free to Start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3749039"/>
            <a:ext cx="34747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1" y="3822191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B830"/>
                </a:solidFill>
                <a:latin typeface="Segoe UI"/>
              </a:rPr>
              <a:t>50 Spots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42611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Founding Partners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731520"/>
            <a:ext cx="3200400" cy="53949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23960" y="914400"/>
            <a:ext cx="2926080" cy="640080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9601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📊 Live Dashboard — 14 redemptions today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1691640"/>
            <a:ext cx="2926080" cy="1097280"/>
          </a:xfrm>
          <a:prstGeom prst="rect">
            <a:avLst/>
          </a:prstGeom>
          <a:solidFill>
            <a:srgbClr val="E8ECF8"/>
          </a:solidFill>
          <a:ln w="635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1764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🍽️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7830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3E"/>
                </a:solidFill>
                <a:latin typeface="Segoe UI"/>
              </a:rPr>
              <a:t>Lunch Special — 25% OFF · 38 redeemed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2194560"/>
            <a:ext cx="2743200" cy="73152"/>
          </a:xfrm>
          <a:prstGeom prst="rect">
            <a:avLst/>
          </a:prstGeom>
          <a:solidFill>
            <a:srgbClr val="F0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15400" y="2194560"/>
            <a:ext cx="1371600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2350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Segoe UI"/>
              </a:rPr>
              <a:t>▮▮▮▮▮▮▮▮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3960" y="2926080"/>
            <a:ext cx="2926080" cy="1097280"/>
          </a:xfrm>
          <a:prstGeom prst="rect">
            <a:avLst/>
          </a:prstGeom>
          <a:solidFill>
            <a:srgbClr val="E8ECF8"/>
          </a:solidFill>
          <a:ln w="635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29992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017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3E"/>
                </a:solidFill>
                <a:latin typeface="Segoe UI"/>
              </a:rPr>
              <a:t>Happy Hour — 30% OFF · 22 redeemed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15400" y="3429000"/>
            <a:ext cx="2743200" cy="73152"/>
          </a:xfrm>
          <a:prstGeom prst="rect">
            <a:avLst/>
          </a:prstGeom>
          <a:solidFill>
            <a:srgbClr val="F0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5400" y="3429000"/>
            <a:ext cx="173736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3584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6B35"/>
                </a:solidFill>
                <a:latin typeface="Segoe UI"/>
              </a:rPr>
              <a:t>▮▮▮▮▮▮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4160520"/>
            <a:ext cx="2926080" cy="1097280"/>
          </a:xfrm>
          <a:prstGeom prst="rect">
            <a:avLst/>
          </a:prstGeom>
          <a:solidFill>
            <a:srgbClr val="E8ECF8"/>
          </a:solidFill>
          <a:ln w="635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2336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251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3E"/>
                </a:solidFill>
                <a:latin typeface="Segoe UI"/>
              </a:rPr>
              <a:t>Morning Coffee — 20% OFF · 17 redeemed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5400" y="4663440"/>
            <a:ext cx="2743200" cy="73152"/>
          </a:xfrm>
          <a:prstGeom prst="rect">
            <a:avLst/>
          </a:prstGeom>
          <a:solidFill>
            <a:srgbClr val="F0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5400" y="4663440"/>
            <a:ext cx="2103120" cy="73152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4818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B830"/>
                </a:solidFill>
                <a:latin typeface="Segoe UI"/>
              </a:rPr>
              <a:t>▮▮▮▮▮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23960" y="5394960"/>
            <a:ext cx="292608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87968" y="5458968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↑ 43% more visits vs last week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4A6B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02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511E"/>
                </a:solidFill>
                <a:latin typeface="Segoe UI"/>
              </a:rPr>
              <a:t>THE REALITY FOR LOCAL BUSINESSES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1B3E"/>
                </a:solidFill>
                <a:latin typeface="Segoe UI"/>
              </a:rPr>
              <a:t>You're Working Hard.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4511E"/>
                </a:solidFill>
                <a:latin typeface="Segoe UI"/>
              </a:rPr>
              <a:t>The Middlemen Are Getting Paid.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36576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Segoe UI"/>
              </a:rPr>
              <a:t>Commissions Eat Your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OTAs and delivery apps charge 20–30% on every transaction. For a café doing
LKR 500K/month, that's LKR 100–150K gone before you pay staff.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3291840" cy="36576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537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511E"/>
                </a:solidFill>
                <a:latin typeface="Segoe UI"/>
              </a:rPr>
              <a:t>Up to 30% lost per sale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011680"/>
            <a:ext cx="36576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Segoe UI"/>
              </a:rPr>
              <a:t>No Direct Customer Relationship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2461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Third-party platforms own the customer data. You fulfil the order — they keep
the contact, the reviews, and the repeat business opportunity.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4480560"/>
            <a:ext cx="32918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5537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Segoe UI"/>
              </a:rPr>
              <a:t>Zero ownership of your audience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011680"/>
            <a:ext cx="36576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9" y="2148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Segoe UI"/>
              </a:rPr>
              <a:t>Empty Tables in Off-Peak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32461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Weekday lunches, mid-afternoon, low-season months — capacity sits idle.
No smart tool to attract customers precisely when you need them.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19" y="4480560"/>
            <a:ext cx="3291840" cy="36576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45537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5A"/>
                </a:solidFill>
                <a:latin typeface="Segoe UI"/>
              </a:rPr>
              <a:t>~70% of off-peak capacity wasted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0749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193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🚫  No visibility without paid 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577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Segoe UI"/>
              </a:rPr>
              <a:t>Meta/Google ads cost LKR 50–200K/mo with unpredictable ROI for most SMEs.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50749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1" y="5193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📊  No real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1" y="5577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Segoe UI"/>
              </a:rPr>
              <a:t>Merchants have no clear view of which promotions work, when, and for whom.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50749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85632" y="5193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🔄  No repeat visit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5577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Segoe UI"/>
              </a:rPr>
              <a:t>One-time walk-ins are never converted into loyal regulars — the highest-value segment.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4A6B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03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THE QPON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1B3E"/>
                </a:solidFill>
                <a:latin typeface="Segoe UI"/>
              </a:rPr>
              <a:t>Your Business.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9B1"/>
                </a:solidFill>
                <a:latin typeface="Segoe UI"/>
              </a:rPr>
              <a:t>Your Rules.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9144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6B"/>
                </a:solidFill>
                <a:latin typeface="Segoe UI"/>
              </a:rPr>
              <a:t>QPON is a commission-free coupon platform built for local Sri Lankan businesses.
Run promotions on your terms — we put you in front of the customers you want.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54864" cy="548640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9260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No commission. Ever.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186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Pay only when a coupon is redeemed. You keep what you earn.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30752"/>
            <a:ext cx="54864" cy="5486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307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Full campaign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023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Set your own discount %, caps, duration. Pause or edit instantly.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35424"/>
            <a:ext cx="54864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53542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Real customer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8280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See exactly who redeems, when, and how often — your insights.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40096"/>
            <a:ext cx="54864" cy="5486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3400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Corporate channel access.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6327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Get discovered by employees through company benefit programs.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7498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4A6B"/>
                </a:solidFill>
                <a:latin typeface="Segoe UI"/>
              </a:rPr>
              <a:t>GETTING STARTED — 4 STEPS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143000"/>
            <a:ext cx="530352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84848" y="1463040"/>
            <a:ext cx="384048" cy="38404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14630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125272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Create your merchant account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161848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Sign up at qpon.lk. Our team onboards you — no tech skills needed.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2468880"/>
            <a:ext cx="530352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84848" y="2788920"/>
            <a:ext cx="384048" cy="38404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4848" y="2788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57860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Build your first offer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9443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Set discount %, redemption cap, dates. Publish in minutes.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3794760"/>
            <a:ext cx="530352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84848" y="4114800"/>
            <a:ext cx="384048" cy="38404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41148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90448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Customers discover &amp; visit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2702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Geo-targeted deal surfaces to the right customer near you.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5120640"/>
            <a:ext cx="5303520" cy="1170432"/>
          </a:xfrm>
          <a:prstGeom prst="rect">
            <a:avLst/>
          </a:prstGeom>
          <a:solidFill>
            <a:srgbClr val="00A896"/>
          </a:solidFill>
          <a:ln w="1524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84848" y="5440679"/>
            <a:ext cx="384048" cy="38404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544067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523036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Track real-time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5596127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See live data. Pause or edit campaigns anytime.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64190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B1"/>
                </a:solidFill>
                <a:latin typeface="Segoe UI"/>
              </a:rPr>
              <a:t>⏱  Average setup time: under 15 minutes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4A6B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04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FEATURE DEEP-DIVE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3E"/>
                </a:solidFill>
                <a:latin typeface="Segoe UI"/>
              </a:rPr>
              <a:t>Smarter Discounts.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511E"/>
                </a:solidFill>
                <a:latin typeface="Segoe UI"/>
              </a:rPr>
              <a:t>Bigger Returns.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54864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39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1947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Target by time slot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2951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Run a 20% lunch special only 12–2 pm on weekdays. Fill tables that would sit empty.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98648"/>
            <a:ext cx="54864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Set redemption caps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3192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Limit to 30 coupons/day so you never over-commit capacity or erode margin.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22776"/>
            <a:ext cx="54864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087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⏸️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995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Pause or edit instantly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3434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Fully booked? Special event? Pause the deal in one tap — no admin, no delays.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46904"/>
            <a:ext cx="54864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1114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50200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Seasonal campaigns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536752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Pre-schedule promotions for low season, holidays, or local events.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7498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4A6B"/>
                </a:solidFill>
                <a:latin typeface="Segoe UI"/>
              </a:rPr>
              <a:t>EXAMPLE: A MIRISSA RESTAURANT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078992"/>
            <a:ext cx="530352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117043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Segoe UI"/>
              </a:rPr>
              <a:t>BEFORE QPON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15087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6B"/>
                </a:solidFill>
                <a:latin typeface="Segoe UI"/>
              </a:rPr>
              <a:t>Monthly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15087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1B3E"/>
                </a:solidFill>
                <a:latin typeface="Segoe UI"/>
              </a:rPr>
              <a:t>LKR 500,000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48272" y="1874519"/>
            <a:ext cx="4937760" cy="9144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2011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6B"/>
                </a:solidFill>
                <a:latin typeface="Segoe UI"/>
              </a:rPr>
              <a:t>OTA commission (25%)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2011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4511E"/>
                </a:solidFill>
                <a:latin typeface="Segoe UI"/>
              </a:rPr>
              <a:t>− LKR 125,000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48272" y="2377440"/>
            <a:ext cx="4937760" cy="9144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2514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6B"/>
                </a:solidFill>
                <a:latin typeface="Segoe UI"/>
              </a:rPr>
              <a:t>Ad spend (Meta/Google)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514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4511E"/>
                </a:solidFill>
                <a:latin typeface="Segoe UI"/>
              </a:rPr>
              <a:t>− LKR 60,000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48272" y="2880360"/>
            <a:ext cx="4937760" cy="9144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48272" y="3044952"/>
            <a:ext cx="4937760" cy="22860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30540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Net retained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30540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4511E"/>
                </a:solidFill>
                <a:latin typeface="Segoe UI"/>
              </a:rPr>
              <a:t>LKR 315,000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3493008"/>
            <a:ext cx="530352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2" y="35844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WITH QPON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40050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6B"/>
                </a:solidFill>
                <a:latin typeface="Segoe UI"/>
              </a:rPr>
              <a:t>Monthly revenue (+15% footfall)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40050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1B3E"/>
                </a:solidFill>
                <a:latin typeface="Segoe UI"/>
              </a:rPr>
              <a:t>LKR 575,000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48272" y="4370832"/>
            <a:ext cx="4937760" cy="9144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8272" y="4507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6B"/>
                </a:solidFill>
                <a:latin typeface="Segoe UI"/>
              </a:rPr>
              <a:t>QPON pay-per-redemption fee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5079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9B1"/>
                </a:solidFill>
                <a:latin typeface="Segoe UI"/>
              </a:rPr>
              <a:t>− LKR 18,000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48272" y="4873752"/>
            <a:ext cx="4937760" cy="9144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48272" y="50109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6B"/>
                </a:solidFill>
                <a:latin typeface="Segoe UI"/>
              </a:rPr>
              <a:t>Ad spend (reduced)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50109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9B1"/>
                </a:solidFill>
                <a:latin typeface="Segoe UI"/>
              </a:rPr>
              <a:t>− LKR 20,000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48272" y="5376672"/>
            <a:ext cx="4937760" cy="9144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48272" y="5559552"/>
            <a:ext cx="493776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12280" y="55778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Net retained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55778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Segoe UI"/>
              </a:rPr>
              <a:t>LKR 537,000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5989320"/>
            <a:ext cx="5303520" cy="3200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48272" y="60350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📈  +LKR 222,000 more retained per month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4A6B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05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511E"/>
                </a:solidFill>
                <a:latin typeface="Segoe UI"/>
              </a:rPr>
              <a:t>PLATFORM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3E"/>
                </a:solidFill>
                <a:latin typeface="Segoe UI"/>
              </a:rPr>
              <a:t>Everything You Need.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511E"/>
                </a:solidFill>
                <a:latin typeface="Segoe UI"/>
              </a:rPr>
              <a:t>Nothing You Don't.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3657600" cy="1874519"/>
          </a:xfrm>
          <a:prstGeom prst="rect">
            <a:avLst/>
          </a:prstGeom>
          <a:solidFill>
            <a:srgbClr val="E8F8F5"/>
          </a:solidFill>
          <a:ln w="1524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157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Real-Time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8152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Live view of issued, collected, and redeemed coupons. See peak hours, best-performing deals, and return rates.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657600" cy="1874519"/>
          </a:xfrm>
          <a:prstGeom prst="rect">
            <a:avLst/>
          </a:prstGeom>
          <a:solidFill>
            <a:srgbClr val="FFFFFF"/>
          </a:solidFill>
          <a:ln w="1524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7157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Web + App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08152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Manage from laptop or phone. Full feature parity across all devices — no separate app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057400"/>
            <a:ext cx="3657600" cy="1874519"/>
          </a:xfrm>
          <a:prstGeom prst="rect">
            <a:avLst/>
          </a:prstGeom>
          <a:solidFill>
            <a:srgbClr val="FFFFFF"/>
          </a:solidFill>
          <a:ln w="1524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🎛️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7157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Full Campaign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308152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Create, pause, edit, or delete campaigns anytime. Set spending caps, time windows, per-user limits.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78808"/>
            <a:ext cx="3657600" cy="1874519"/>
          </a:xfrm>
          <a:prstGeom prst="rect">
            <a:avLst/>
          </a:prstGeom>
          <a:solidFill>
            <a:srgbClr val="FFF0E8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8371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Geo-Targeted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202936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Your deals appear to customers physically near your location — the highest-intent audience possible.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178808"/>
            <a:ext cx="3657600" cy="1874519"/>
          </a:xfrm>
          <a:prstGeom prst="rect">
            <a:avLst/>
          </a:prstGeom>
          <a:solidFill>
            <a:srgbClr val="F0E8F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48371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Corporate 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5202936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Your business is visible inside corporate employee benefit packages — driving guaranteed regular visitors.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178808"/>
            <a:ext cx="3657600" cy="1874519"/>
          </a:xfrm>
          <a:prstGeom prst="rect">
            <a:avLst/>
          </a:prstGeom>
          <a:solidFill>
            <a:srgbClr val="FFFFFF"/>
          </a:solidFill>
          <a:ln w="1524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8371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Dedicated Onboarding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5202936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Personal setup walkthrough, demo videos, FAQ portal. First 50 merchants get a physical Welcome Kit.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4A6B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06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Segoe UI"/>
              </a:rPr>
              <a:t>BONUS REVENUE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1B3E"/>
                </a:solidFill>
                <a:latin typeface="Segoe UI"/>
              </a:rPr>
              <a:t>A New Customer Channel: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A855F7"/>
                </a:solidFill>
                <a:latin typeface="Segoe UI"/>
              </a:rPr>
              <a:t>Corporate Employees.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669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6B"/>
                </a:solidFill>
                <a:latin typeface="Segoe UI"/>
              </a:rPr>
              <a:t>QPON sells branded coupon books to companies as employee perks. Your business gets listed —
giving you a stream of repeat visitors from nearby offices every single week.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862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Company Signs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17296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HR purchases annual QPON employee benefit package for all staff.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8444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55F7"/>
                </a:solidFill>
                <a:latin typeface="Segoe U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22191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7307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Employees Get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04164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Staff open QPON and see deals near their office — your business is front and centre.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55F7"/>
                </a:solidFill>
                <a:latin typeface="Segoe U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26279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90871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599431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They Visit You Regularly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910327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Unlike one-off tourists, employees are nearby every weekday. One company = dozens of weekly regulars.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21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55F7"/>
                </a:solidFill>
                <a:latin typeface="Segoe U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94959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559551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54681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You Earn Predictably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5779007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Regular weekday visits. Zero effort — QPON handles the entire corporate relationship.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1783080"/>
            <a:ext cx="5212080" cy="4434840"/>
          </a:xfrm>
          <a:prstGeom prst="rect">
            <a:avLst/>
          </a:prstGeom>
          <a:solidFill>
            <a:srgbClr val="F0F3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Segoe UI"/>
              </a:rPr>
              <a:t>WHY THIS MATTERS FOR YOUR BUSINESS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2860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6B"/>
                </a:solidFill>
                <a:latin typeface="Segoe UI"/>
              </a:rPr>
              <a:t>Corporate employees are the most predictable customer segment — same area, same routines, high weekly spend.
QPON's corporate channel turns your existing location into a reliable revenue stream beyond peak hours.
One partner company can bring you 20–100 regular weekly visitors — permanently.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279392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2592" y="42245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Segoe UI"/>
              </a:rPr>
              <a:t>Bulk coupon books — branded to employer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718303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2592" y="46634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Segoe UI"/>
              </a:rPr>
              <a:t>Group subscription tiers — 10 to 10,000 employees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157216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2592" y="51023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Segoe UI"/>
              </a:rPr>
              <a:t>HR usage dashboard — visibility on engagement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96128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22592" y="554126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Segoe UI"/>
              </a:rPr>
              <a:t>Category control — curate for company culture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4A6B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07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30"/>
                </a:solidFill>
                <a:latin typeface="Segoe UI"/>
              </a:rPr>
              <a:t>TRANSPARENT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1B3E"/>
                </a:solidFill>
                <a:latin typeface="Segoe UI"/>
              </a:rPr>
              <a:t>Simple, Fair,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4511E"/>
                </a:solidFill>
                <a:latin typeface="Segoe UI"/>
              </a:rPr>
              <a:t>Performance-Based.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6B"/>
                </a:solidFill>
                <a:latin typeface="Segoe UI"/>
              </a:rPr>
              <a:t>You only pay QPON when it actually works for you. No monthly retainer, no upfront risk, no hidden fees.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143" y="2478024"/>
            <a:ext cx="3547872" cy="37307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719" y="2514600"/>
            <a:ext cx="3474720" cy="3657600"/>
          </a:xfrm>
          <a:prstGeom prst="rect">
            <a:avLst/>
          </a:prstGeom>
          <a:solidFill>
            <a:srgbClr val="E8F8F5"/>
          </a:solidFill>
          <a:ln w="2286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4159" y="2313432"/>
            <a:ext cx="1005840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4159" y="2322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" y="2770632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Segoe UI"/>
              </a:rPr>
              <a:t>Founding 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87" y="313639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896"/>
                </a:solidFill>
                <a:latin typeface="Segoe UI"/>
              </a:rPr>
              <a:t>First 50 merchants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887" y="3447288"/>
            <a:ext cx="3072384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887" y="3675887"/>
            <a:ext cx="9144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479" y="356616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Full platform access — no fees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887" y="4087368"/>
            <a:ext cx="9144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479" y="3977639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3 Months at zero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0887" y="4498848"/>
            <a:ext cx="9144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479" y="438912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Priority placement in 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0887" y="4910328"/>
            <a:ext cx="9144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479" y="480060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Welcome Kit (QR standee, cards)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0887" y="5321808"/>
            <a:ext cx="9144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479" y="521208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Dedicated onboarding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0887" y="5733288"/>
            <a:ext cx="9144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479" y="562356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500 LKR cashback per redemption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8487" y="2514600"/>
            <a:ext cx="3474720" cy="3657600"/>
          </a:xfrm>
          <a:prstGeom prst="rect">
            <a:avLst/>
          </a:prstGeom>
          <a:solidFill>
            <a:srgbClr val="FFF5E0"/>
          </a:solidFill>
          <a:ln w="22860">
            <a:solidFill>
              <a:srgbClr val="FFB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92927" y="2313432"/>
            <a:ext cx="1005840" cy="384048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92927" y="2322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9655" y="2770632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Segoe UI"/>
              </a:rPr>
              <a:t>Monthly Subscription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9655" y="313639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830"/>
                </a:solidFill>
                <a:latin typeface="Segoe UI"/>
              </a:rPr>
              <a:t>High-volume merchants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59655" y="3447288"/>
            <a:ext cx="3072384" cy="27432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59655" y="3675887"/>
            <a:ext cx="91440" cy="914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4247" y="356616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Flat monthly fee — no per-use charge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9655" y="4087368"/>
            <a:ext cx="91440" cy="914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24247" y="3977639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Advanced analytics &amp; ROI reports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9655" y="4498848"/>
            <a:ext cx="91440" cy="914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24247" y="438912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Featured placement in app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9655" y="4910328"/>
            <a:ext cx="91440" cy="914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24247" y="480060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Multi-branch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59655" y="5321808"/>
            <a:ext cx="91440" cy="914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24247" y="521208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Dedicated account manager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59655" y="5733288"/>
            <a:ext cx="91440" cy="914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24247" y="562356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Priority customer support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17255" y="2514600"/>
            <a:ext cx="3474720" cy="3657600"/>
          </a:xfrm>
          <a:prstGeom prst="rect">
            <a:avLst/>
          </a:prstGeom>
          <a:solidFill>
            <a:srgbClr val="F5EAFF"/>
          </a:solidFill>
          <a:ln w="2286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51695" y="2313432"/>
            <a:ext cx="1005840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51695" y="2322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CORP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8423" y="2770632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Segoe UI"/>
              </a:rPr>
              <a:t>Corporate Plan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8423" y="313639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B2FBE"/>
                </a:solidFill>
                <a:latin typeface="Segoe UI"/>
              </a:rPr>
              <a:t>Annual B2B packages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8423" y="3447288"/>
            <a:ext cx="3072384" cy="2743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8423" y="3675887"/>
            <a:ext cx="914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83015" y="356616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Listed in corporate benefit books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8423" y="4087368"/>
            <a:ext cx="914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83015" y="3977639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Featured to employee audiences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8423" y="4498848"/>
            <a:ext cx="914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83015" y="438912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B2B footfall &amp; ROI reporting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8423" y="4910328"/>
            <a:ext cx="914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83015" y="480060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Company partnership branding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8423" y="5321808"/>
            <a:ext cx="914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83015" y="521208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Priority in corporate searches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8423" y="5733288"/>
            <a:ext cx="914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83015" y="562356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Tailored onboarding for HR teams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291072"/>
            <a:ext cx="11064240" cy="36576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3185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  <a:latin typeface="Segoe UI"/>
              </a:rPr>
              <a:t>🔒  Our permanent promise: QPON will never charge a percentage commission on your sales. Ever.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08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YOUR NEW CUSTOMER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3E"/>
                </a:solidFill>
                <a:latin typeface="Segoe UI"/>
              </a:rPr>
              <a:t>Four Segments.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9B1"/>
                </a:solidFill>
                <a:latin typeface="Segoe UI"/>
              </a:rPr>
              <a:t>All Ready to Spend.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2029968"/>
            <a:ext cx="2816352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249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Corporate Employees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55F7"/>
                </a:solidFill>
                <a:latin typeface="Segoe UI"/>
              </a:rPr>
              <a:t>Weekly Regulars · Predictable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438144"/>
            <a:ext cx="2423160" cy="36576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54787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Office workers with QPON via their employer's benefits plan. Same area every weekday — your most reliable, repeat customer segment.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074920"/>
            <a:ext cx="2423160" cy="320040"/>
          </a:xfrm>
          <a:prstGeom prst="rect">
            <a:avLst/>
          </a:prstGeom>
          <a:solidFill>
            <a:srgbClr val="F2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510235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5F7"/>
                </a:solidFill>
                <a:latin typeface="Segoe UI"/>
              </a:rPr>
              <a:t>Consistent weekly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9856" y="2029968"/>
            <a:ext cx="2816352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27249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Digital Nomads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309067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9B1"/>
                </a:solidFill>
                <a:latin typeface="Segoe UI"/>
              </a:rPr>
              <a:t>Daily Repeat · Long Stay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2736" y="3438144"/>
            <a:ext cx="2423160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2736" y="354787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Remote professionals staying for months. They eat out daily, use cafés for work, and build routines fast. One nomad = multiple weekly visits for months.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2736" y="5074920"/>
            <a:ext cx="2423160" cy="320040"/>
          </a:xfrm>
          <a:prstGeom prst="rect">
            <a:avLst/>
          </a:prstGeom>
          <a:solidFill>
            <a:srgbClr val="E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21024" y="510235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9B1"/>
                </a:solidFill>
                <a:latin typeface="Segoe UI"/>
              </a:rPr>
              <a:t>7+ visits/week potential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64224" y="2029968"/>
            <a:ext cx="2816352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🍽️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27249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Urban Taste-Makers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309067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830"/>
                </a:solidFill>
                <a:latin typeface="Segoe UI"/>
              </a:rPr>
              <a:t>Trend Setters · Social Amplifiers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47104" y="3438144"/>
            <a:ext cx="2423160" cy="36576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354787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Savvy locals who discover new spots first and broadcast them to thousands of followers. One QPON visit = organic marketing you can't buy.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47104" y="5074920"/>
            <a:ext cx="2423160" cy="320040"/>
          </a:xfrm>
          <a:prstGeom prst="rect">
            <a:avLst/>
          </a:prstGeom>
          <a:solidFill>
            <a:srgbClr val="FFF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510235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B830"/>
                </a:solidFill>
                <a:latin typeface="Segoe UI"/>
              </a:rPr>
              <a:t>Free social amplification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08592" y="2029968"/>
            <a:ext cx="2816352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1472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1472" y="27249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Explorers &amp; Tourists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309067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6B35"/>
                </a:solidFill>
                <a:latin typeface="Segoe UI"/>
              </a:rPr>
              <a:t>High Spend · Short Stay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91472" y="3438144"/>
            <a:ext cx="2423160" cy="36576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472" y="354787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Destination travellers seeking authentic local recommendations. High spend per visit — and QPON is their first stop when they arrive.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91472" y="5074920"/>
            <a:ext cx="2423160" cy="320040"/>
          </a:xfrm>
          <a:prstGeom prst="rect">
            <a:avLst/>
          </a:prstGeom>
          <a:solidFill>
            <a:srgbClr val="FF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0" y="510235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35"/>
                </a:solidFill>
                <a:latin typeface="Segoe UI"/>
              </a:rPr>
              <a:t>Avg. LKR 45K / week spend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" y="5532120"/>
            <a:ext cx="112105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596128"/>
            <a:ext cx="10844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A4A6B"/>
                </a:solidFill>
                <a:latin typeface="Segoe UI"/>
              </a:rPr>
              <a:t>📍 All four segments are shown your deals only when physically near you — zero wasted impressions.
🔄 QPON's repeat-visit engine actively drives each segment back to your business.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4A6B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09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511E"/>
                </a:solidFill>
                <a:latin typeface="Segoe UI"/>
              </a:rPr>
              <a:t>COMPETITIVE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1B3E"/>
                </a:solidFill>
                <a:latin typeface="Segoe UI"/>
              </a:rPr>
              <a:t>How QPON Compares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511E"/>
                </a:solidFill>
                <a:latin typeface="Segoe UI"/>
              </a:rPr>
              <a:t>What You're Using Now.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01952"/>
            <a:ext cx="11521440" cy="41148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3867912" y="1901952"/>
            <a:ext cx="2011680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QPON 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4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OTAs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Delivery Apps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13848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Social 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95728"/>
            <a:ext cx="11521440" cy="493775"/>
          </a:xfrm>
          <a:prstGeom prst="rect">
            <a:avLst/>
          </a:prstGeom>
          <a:solidFill>
            <a:srgbClr val="F0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2505456"/>
            <a:ext cx="31089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Commission on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2" y="250545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9B1"/>
                </a:solidFill>
                <a:latin typeface="Segoe UI"/>
              </a:rPr>
              <a:t>0% Always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50545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  <a:latin typeface="Segoe UI"/>
              </a:rPr>
              <a:t>20–30%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50545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  <a:latin typeface="Segoe UI"/>
              </a:rPr>
              <a:t>25–30%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8128" y="250545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Sunk 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926080"/>
            <a:ext cx="11521440" cy="493775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035808"/>
            <a:ext cx="31089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Real-time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3035808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9B1"/>
                </a:solidFill>
                <a:latin typeface="Segoe UI"/>
              </a:rPr>
              <a:t>✓ Full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3035808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035808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Basic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3035808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456432"/>
            <a:ext cx="11521440" cy="493775"/>
          </a:xfrm>
          <a:prstGeom prst="rect">
            <a:avLst/>
          </a:prstGeom>
          <a:solidFill>
            <a:srgbClr val="F0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3566160"/>
            <a:ext cx="31089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Full deal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2" y="3566160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9B1"/>
                </a:solidFill>
                <a:latin typeface="Segoe UI"/>
              </a:rPr>
              <a:t>✓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98464" y="3566160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Limited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3566160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Minimal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8128" y="3566160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986783"/>
            <a:ext cx="11521440" cy="493775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" y="4096511"/>
            <a:ext cx="31089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Geo-targeted reach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13632" y="4096511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9B1"/>
                </a:solidFill>
                <a:latin typeface="Segoe UI"/>
              </a:rPr>
              <a:t>✓ Precision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98464" y="4096511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3296" y="4096511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8128" y="4096511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Approx.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517136"/>
            <a:ext cx="11521440" cy="493775"/>
          </a:xfrm>
          <a:prstGeom prst="rect">
            <a:avLst/>
          </a:prstGeom>
          <a:solidFill>
            <a:srgbClr val="F0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4626864"/>
            <a:ext cx="31089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Corporate B2B channel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3632" y="4626864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9B1"/>
                </a:solidFill>
                <a:latin typeface="Segoe UI"/>
              </a:rPr>
              <a:t>✓ Built-in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4626864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83296" y="4626864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8128" y="4626864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047488"/>
            <a:ext cx="11521440" cy="493775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" y="5157216"/>
            <a:ext cx="310896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Segoe UI"/>
              </a:rPr>
              <a:t>Repeat visit 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515721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9B1"/>
                </a:solidFill>
                <a:latin typeface="Segoe UI"/>
              </a:rPr>
              <a:t>✓ Active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98464" y="515721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3296" y="515721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Partial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68128" y="5157216"/>
            <a:ext cx="192024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4A6B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Segoe UI"/>
              </a:rPr>
              <a:t>LAUNCH &amp; GROWTH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1B3E"/>
                </a:solidFill>
                <a:latin typeface="Segoe UI"/>
              </a:rPr>
              <a:t>June 2026 Launch.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A855F7"/>
                </a:solidFill>
                <a:latin typeface="Segoe UI"/>
              </a:rPr>
              <a:t>Corporate-First. Ecosystem-Wide.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01952"/>
            <a:ext cx="5486400" cy="4343400"/>
          </a:xfrm>
          <a:prstGeom prst="rect">
            <a:avLst/>
          </a:prstGeom>
          <a:solidFill>
            <a:srgbClr val="F5EBFF"/>
          </a:solidFill>
          <a:ln w="254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01952"/>
            <a:ext cx="5486400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3852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★  PRIMARY TARGET  —  CORPORATE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505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487168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855F7"/>
                </a:solidFill>
                <a:latin typeface="Segoe UI"/>
              </a:rPr>
              <a:t>Corporate Employees &amp; HR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99232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6B"/>
                </a:solidFill>
                <a:latin typeface="Segoe UI"/>
              </a:rPr>
              <a:t>QPON launches June 2026 with Corporate as the anchor market. By partnering with companies before the public launch, we secure a committed, predictable base of repeat visitors for every onboarded merchant from day 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24528"/>
            <a:ext cx="5166360" cy="402336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885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855F7"/>
                </a:solidFill>
                <a:latin typeface="Segoe UI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2885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  <a:latin typeface="Segoe UI"/>
              </a:rPr>
              <a:t>50+ companies signed pre-launch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700016"/>
            <a:ext cx="5166360" cy="402336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640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855F7"/>
                </a:solidFill>
                <a:latin typeface="Segoe UI"/>
              </a:rPr>
              <a:t>Employees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7640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  <a:latin typeface="Segoe UI"/>
              </a:rPr>
              <a:t>5,000+ active users at launch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75504"/>
            <a:ext cx="5166360" cy="402336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395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855F7"/>
                </a:solidFill>
                <a:latin typeface="Segoe UI"/>
              </a:rPr>
              <a:t>Visit 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2395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  <a:latin typeface="Segoe UI"/>
              </a:rPr>
              <a:t>Weekly recurring footfall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901952"/>
            <a:ext cx="5486400" cy="384048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193852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4A6B"/>
                </a:solidFill>
                <a:latin typeface="Segoe UI"/>
              </a:rPr>
              <a:t>SECONDARY SEGMENTS  —  GROWTH PHASE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423160"/>
            <a:ext cx="548640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69747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2514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Digital Nomads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2898648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Long-stay remote workers build daily routines. High-frequency return visits.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423160"/>
            <a:ext cx="164592" cy="1170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721608"/>
            <a:ext cx="548640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B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99592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🍽️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38130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Urban Taste-Makers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4197096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Local trend-setters drive word-of-mouth and social discovery after launch.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721608"/>
            <a:ext cx="164592" cy="1170432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020056"/>
            <a:ext cx="548640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29437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51114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Explorers &amp; Tourists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5495544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Seasonal high-spenders activate deal discovery for the broader consumer funnel.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020056"/>
            <a:ext cx="164592" cy="1170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486400"/>
            <a:ext cx="11384280" cy="713232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5532120"/>
            <a:ext cx="109728" cy="5669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Segoe UI"/>
              </a:rPr>
              <a:t>Jan–May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" y="5797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6B"/>
                </a:solidFill>
                <a:latin typeface="Segoe UI"/>
              </a:rPr>
              <a:t>Corporate pre-sales &amp; merchant onboarding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93008" y="5532120"/>
            <a:ext cx="109728" cy="5669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75888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June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75888" y="5797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6B"/>
                </a:solidFill>
                <a:latin typeface="Segoe UI"/>
              </a:rPr>
              <a:t>Public launch — corporate users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45936" y="5532120"/>
            <a:ext cx="109728" cy="566928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8816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30"/>
                </a:solidFill>
                <a:latin typeface="Segoe UI"/>
              </a:rPr>
              <a:t>Q3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5797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6B"/>
                </a:solidFill>
                <a:latin typeface="Segoe UI"/>
              </a:rPr>
              <a:t>Digital nomad &amp; local foodie expansion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98863" y="5532120"/>
            <a:ext cx="109728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81743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Segoe UI"/>
              </a:rPr>
              <a:t>Q4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81743" y="5797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6B"/>
                </a:solidFill>
                <a:latin typeface="Segoe UI"/>
              </a:rPr>
              <a:t>Tourist corridor rollout nationwide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4A6B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WE'VE GOT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3E"/>
                </a:solidFill>
                <a:latin typeface="Segoe UI"/>
              </a:rPr>
              <a:t>You're Never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9B1"/>
                </a:solidFill>
                <a:latin typeface="Segoe UI"/>
              </a:rPr>
              <a:t>Your 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6B"/>
                </a:solidFill>
                <a:latin typeface="Segoe UI"/>
              </a:rPr>
              <a:t>QPON provides every tool and human support you need to get set up fast and keep growing.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87168"/>
            <a:ext cx="6400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70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🧑‍💼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786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Personal Sales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4436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A team member guides you through setup — in person or video call. No questions too small.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47288"/>
            <a:ext cx="6400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630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3872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Demo Videos &amp; FAQ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0448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Step-by-step guides and a searchable help centre available 24/7.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07408"/>
            <a:ext cx="6400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590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988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Priority Support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6460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Direct WhatsApp and email support. Founding merchants get priority — response within hours.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67528"/>
            <a:ext cx="6400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550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45896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Segoe UI"/>
              </a:rPr>
              <a:t>AI Onboarding (2026 Roadmap)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82472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6B"/>
                </a:solidFill>
                <a:latin typeface="Segoe UI"/>
              </a:rPr>
              <a:t>Intelligent chatbot that guides setup and suggests deal optimisations automatically.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286000"/>
            <a:ext cx="4343400" cy="3931920"/>
          </a:xfrm>
          <a:prstGeom prst="rect">
            <a:avLst/>
          </a:prstGeom>
          <a:solidFill>
            <a:srgbClr val="E0F8F5"/>
          </a:solidFill>
          <a:ln w="2540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42316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Segoe UI"/>
              </a:rPr>
              <a:t>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429000"/>
            <a:ext cx="4069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Segoe UI"/>
              </a:rPr>
              <a:t>Founding Merchant
Welcome Kit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06908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C9B1"/>
                </a:solidFill>
                <a:latin typeface="Segoe UI"/>
              </a:rPr>
              <a:t>First 50 merchants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434840"/>
            <a:ext cx="4069080" cy="329184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4714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  <a:latin typeface="Segoe UI"/>
              </a:rPr>
              <a:t>📱  Custom QR standee for your counter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4818888"/>
            <a:ext cx="4069080" cy="329184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485546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  <a:latin typeface="Segoe UI"/>
              </a:rPr>
              <a:t>🪧  Branded table cards &amp; stickers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5202936"/>
            <a:ext cx="4069080" cy="329184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523951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  <a:latin typeface="Segoe UI"/>
              </a:rPr>
              <a:t>🏅  'QPON Partner' window badge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5586983"/>
            <a:ext cx="4069080" cy="329184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5623559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  <a:latin typeface="Segoe UI"/>
              </a:rPr>
              <a:t>📘  Printed quick-start guide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4A6B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E0D0"/>
                </a:solidFill>
                <a:latin typeface="Segoe UI"/>
              </a:rPr>
              <a:t>EXCLUSIVE LAUNCH OFFER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Join as a Founding Merchant.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E8D0"/>
                </a:solidFill>
                <a:latin typeface="Segoe UI"/>
              </a:rPr>
              <a:t>Win Before Launch.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01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EC8"/>
                </a:solidFill>
                <a:latin typeface="Segoe UI"/>
              </a:rPr>
              <a:t>Limited to 50 businesses. Once these spots are filled, the founding tier closes permanently
and pricing reverts to standard rates.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3727" y="2697480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5327" y="2834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"/>
              </a:rPr>
              <a:t>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35478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3E"/>
                </a:solidFill>
                <a:latin typeface="Segoe UI"/>
              </a:rPr>
              <a:t>3 Months 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3986784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6B"/>
                </a:solidFill>
                <a:latin typeface="Segoe UI"/>
              </a:rPr>
              <a:t>Full platform access with zero fees.
No credit card required to start.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8487" y="2697480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0087" y="2834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"/>
              </a:rPr>
              <a:t>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367" y="35478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3E"/>
                </a:solidFill>
                <a:latin typeface="Segoe UI"/>
              </a:rPr>
              <a:t>Priority 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367" y="3986784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6B"/>
                </a:solidFill>
                <a:latin typeface="Segoe UI"/>
              </a:rPr>
              <a:t>Your business appears at the top
when customers search near you.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3247" y="2697480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4847" y="2834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"/>
              </a:rPr>
              <a:t>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6127" y="35478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3E"/>
                </a:solidFill>
                <a:latin typeface="Segoe UI"/>
              </a:rPr>
              <a:t>Welcome 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6127" y="3986784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6B"/>
                </a:solidFill>
                <a:latin typeface="Segoe UI"/>
              </a:rPr>
              <a:t>QR standee, table cards, and stickers
— everything to signal you're on QPON.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3727" y="5230368"/>
            <a:ext cx="3474720" cy="804672"/>
          </a:xfrm>
          <a:prstGeom prst="rect">
            <a:avLst/>
          </a:prstGeom>
          <a:solidFill>
            <a:srgbClr val="8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887" y="5285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🤝  Dedicated Onboarding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887" y="5596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CAA"/>
                </a:solidFill>
                <a:latin typeface="Segoe UI"/>
              </a:rPr>
              <a:t>Personal setup walkthrough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8487" y="5230368"/>
            <a:ext cx="3474720" cy="804672"/>
          </a:xfrm>
          <a:prstGeom prst="rect">
            <a:avLst/>
          </a:prstGeom>
          <a:solidFill>
            <a:srgbClr val="8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5647" y="5285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🔒  0% Commission — Forever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647" y="5596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CAA"/>
                </a:solidFill>
                <a:latin typeface="Segoe UI"/>
              </a:rPr>
              <a:t>Locked in for founding partners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3247" y="5230368"/>
            <a:ext cx="3474720" cy="804672"/>
          </a:xfrm>
          <a:prstGeom prst="rect">
            <a:avLst/>
          </a:prstGeom>
          <a:solidFill>
            <a:srgbClr val="8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0407" y="5285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📍  Priority geo visibility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0407" y="5596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CAA"/>
                </a:solidFill>
                <a:latin typeface="Segoe UI"/>
              </a:rPr>
              <a:t>Top of search in your area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80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373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AA"/>
                </a:solidFill>
                <a:latin typeface="Segoe UI"/>
              </a:rPr>
              <a:t>qpon.lk  ·  inquiries@qpon.lk  ·  +94 75 977 8858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8015"/>
            <a:ext cx="201168" cy="2011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188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097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Segoe UI"/>
              </a:rPr>
              <a:t>QPON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1188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egoe UI"/>
              </a:rPr>
              <a:t>PARTNER WITH QPON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D1B3E"/>
                </a:solidFill>
                <a:latin typeface="Segoe UI"/>
              </a:rPr>
              <a:t>Your Business Deserves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4511E"/>
                </a:solidFill>
                <a:latin typeface="Segoe UI"/>
              </a:rPr>
              <a:t>Better Than 30% Commission.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6B"/>
                </a:solidFill>
                <a:latin typeface="Segoe UI"/>
              </a:rPr>
              <a:t>Join QPON now. Keep your margin, own your customers, and fill your tables —
on your terms, with zero commission, starting free.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5479" y="2834640"/>
            <a:ext cx="3291840" cy="1417320"/>
          </a:xfrm>
          <a:prstGeom prst="rect">
            <a:avLst/>
          </a:prstGeom>
          <a:solidFill>
            <a:srgbClr val="F4511E"/>
          </a:solidFill>
          <a:ln w="2286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37079" y="2926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639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Sign Up 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639" y="3858768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  <a:hlinkClick r:id="rId2"/>
              </a:rPr>
              <a:t>www.qpon.lk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9927" y="2834640"/>
            <a:ext cx="3291840" cy="1417320"/>
          </a:xfrm>
          <a:prstGeom prst="rect">
            <a:avLst/>
          </a:prstGeom>
          <a:solidFill>
            <a:srgbClr val="FFFFFF"/>
          </a:solidFill>
          <a:ln w="2286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1527" y="2926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7087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3E"/>
                </a:solidFill>
                <a:latin typeface="Segoe UI"/>
              </a:rPr>
              <a:t>Call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7087" y="385876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B1"/>
                </a:solidFill>
                <a:latin typeface="Segoe UI"/>
              </a:rPr>
              <a:t>+94 75 977 8858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375" y="2834640"/>
            <a:ext cx="3291840" cy="1417320"/>
          </a:xfrm>
          <a:prstGeom prst="rect">
            <a:avLst/>
          </a:prstGeom>
          <a:solidFill>
            <a:srgbClr val="FFFFFF"/>
          </a:solidFill>
          <a:ln w="2286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5975" y="2926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✉️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1535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3E"/>
                </a:solidFill>
                <a:latin typeface="Segoe UI"/>
              </a:rPr>
              <a:t>Email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1535" y="3858768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7B2FBE"/>
                </a:solidFill>
                <a:latin typeface="Segoe UI"/>
                <a:hlinkClick r:id="rId3"/>
              </a:rPr>
              <a:t>inquiries@qpon.lk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4511E"/>
                </a:solidFill>
                <a:latin typeface="Segoe UI"/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138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Commission forever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709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A4A6B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57200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9B1"/>
                </a:solidFill>
                <a:latin typeface="Segoe UI"/>
              </a:rPr>
              <a:t>3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138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Free to 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09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A4A6B"/>
                </a:solidFill>
                <a:latin typeface="Segoe U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57200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B830"/>
                </a:solidFill>
                <a:latin typeface="Segoe UI"/>
              </a:rPr>
              <a:t>50 Spots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138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B"/>
                </a:solidFill>
                <a:latin typeface="Segoe UI"/>
              </a:rPr>
              <a:t>Founding tier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053328"/>
            <a:ext cx="12191695" cy="36576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089904"/>
            <a:ext cx="12191695" cy="768096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172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Segoe UI"/>
              </a:rPr>
              <a:t>© 2026 QPON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6172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0C9B1"/>
                </a:solidFill>
                <a:latin typeface="Segoe UI"/>
                <a:hlinkClick r:id="rId2"/>
              </a:rPr>
              <a:t>qpon.lk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172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4A6B"/>
                </a:solidFill>
                <a:latin typeface="Segoe UI"/>
              </a:rPr>
              <a:t>Issac Heshan Suppiah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